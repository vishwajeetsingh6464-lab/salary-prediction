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a60bbc944164ee5" /><Relationship Type="http://schemas.openxmlformats.org/package/2006/relationships/metadata/core-properties" Target="/docProps/core.xml" Id="Rf9c6c0257cd049f6" /><Relationship Type="http://schemas.openxmlformats.org/officeDocument/2006/relationships/extended-properties" Target="/docProps/app.xml" Id="Rb2daa656348f4535" /><Relationship Type="http://schemas.openxmlformats.org/officeDocument/2006/relationships/custom-properties" Target="/docProps/custom.xml" Id="R5f0ee30b021047e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6764e53402a4850"/>
  </p:notesMasterIdLst>
  <p:sldIdLst>
    <p:sldId id="256" r:id="Rb71217205d3f4b10"/>
    <p:sldId id="257" r:id="Rddc786caf85b4008"/>
    <p:sldId id="258" r:id="R1bec757f576e405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71217205d3f4b10" /><Relationship Type="http://schemas.openxmlformats.org/officeDocument/2006/relationships/notesMaster" Target="/ppt/notesMasters/notesMaster1.xml" Id="Rb6764e53402a4850" /><Relationship Type="http://schemas.openxmlformats.org/officeDocument/2006/relationships/slide" Target="/ppt/slides/slide2.xml" Id="Rddc786caf85b4008" /><Relationship Type="http://schemas.openxmlformats.org/officeDocument/2006/relationships/slide" Target="/ppt/slides/slide3.xml" Id="R1bec757f576e40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d0564d670744fe9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cd4e245007c42d3" /><Relationship Type="http://schemas.openxmlformats.org/officeDocument/2006/relationships/slide" Target="/ppt/slides/slide1.xml" Id="R7618a248b23843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d7581b0a0bf4104" /><Relationship Type="http://schemas.openxmlformats.org/officeDocument/2006/relationships/slide" Target="/ppt/slides/slide2.xml" Id="R018f6173626a44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cd0604e0ad140cd" /><Relationship Type="http://schemas.openxmlformats.org/officeDocument/2006/relationships/slide" Target="/ppt/slides/slide3.xml" Id="R91d6e70a87134c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Salary prediction helps HR teams make objective, data-backed compensation decisions. The problem is especially relevant for growing organisations.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dataset has 249 rows after removing the header. Salary ranges from ~$41K to ~$171K. All categorical fields were label-encoded before training.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Streamlit frontend communicates with the Flask API over HTTP. The API loads the trained scikit-learn model from disk on startup and serves predictions in real time.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6ab5b016b4f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b433dc39a46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a3f3e1a0941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cd716cb5f947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e31b84d2943c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b779a6475d3430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9ae519ca3424a" /><Relationship Type="http://schemas.openxmlformats.org/officeDocument/2006/relationships/notesSlide" Target="/ppt/notesSlides/notesSlide1.xml" Id="R3edf11ad7e4241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ea6b3bb2a4c5c" /><Relationship Type="http://schemas.openxmlformats.org/officeDocument/2006/relationships/notesSlide" Target="/ppt/notesSlides/notesSlide2.xml" Id="R5a0f233768564c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509dc316943ad" /><Relationship Type="http://schemas.openxmlformats.org/officeDocument/2006/relationships/notesSlide" Target="/ppt/notesSlides/notesSlide3.xml" Id="R6cec945bbfd24a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01" name="SlideNum"/>
          <p:cNvSpPr txBox="1"/>
          <p:nvPr/>
        </p:nvSpPr>
        <p:spPr>
          <a:xfrm xmlns:a="http://schemas.openxmlformats.org/drawingml/2006/main">
            <a:off x="10800000" y="144000"/>
            <a:ext cx="9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AED6F1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00002" name="Title"/>
          <p:cNvSpPr txBox="1"/>
          <p:nvPr/>
        </p:nvSpPr>
        <p:spPr>
          <a:xfrm xmlns:a="http://schemas.openxmlformats.org/drawingml/2006/main">
            <a:off x="540000" y="108000"/>
            <a:ext cx="97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  <a:latin typeface="Calibri"/>
                <a:ea typeface="Calibri"/>
              </a:rPr>
              <a:t>Problem Statement</a:t>
            </a:r>
          </a:p>
        </p:txBody>
      </p:sp>
      <p:sp>
        <p:nvSpPr>
          <p:cNvPr id="100003" name="Body"/>
          <p:cNvSpPr txBox="1"/>
          <p:nvPr/>
        </p:nvSpPr>
        <p:spPr>
          <a:xfrm xmlns:a="http://schemas.openxmlformats.org/drawingml/2006/main">
            <a:off x="540000" y="1008000"/>
            <a:ext cx="10800000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Salary estimation is a critical HR challenge.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Manual salary benchmarking is: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  •  Time-consuming and inconsistent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  •  Prone to bias without objective data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  •  Difficult to scale across job roles and locations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Our Solution:</a:t>
            </a:r>
          </a:p>
          <a:p xmlns:a="http://schemas.openxmlformats.org/drawingml/2006/main">
            <a:r>
              <a:rPr lang="en-US" sz="2000">
                <a:solidFill>
                  <a:srgbClr val="1A1A2E"/>
                </a:solidFill>
                <a:latin typeface="Calibri"/>
                <a:ea typeface="Calibri"/>
              </a:rPr>
              <a:t>Build a data-driven ML model that predicts annual salary based on an employee's education, experience, job title, location, age, and gender — delivered via a real-time web application.</a:t>
            </a:r>
          </a:p>
        </p:txBody>
      </p:sp>
      <p:sp>
        <p:nvSpPr>
          <p:cNvPr id="100004" name="Accent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C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86C1"/>
              </a:solidFill>
            </a:endParaRP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5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06" name="SlideNum"/>
          <p:cNvSpPr txBox="1"/>
          <p:nvPr/>
        </p:nvSpPr>
        <p:spPr>
          <a:xfrm xmlns:a="http://schemas.openxmlformats.org/drawingml/2006/main">
            <a:off x="10800000" y="144000"/>
            <a:ext cx="9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AED6F1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00007" name="Title"/>
          <p:cNvSpPr txBox="1"/>
          <p:nvPr/>
        </p:nvSpPr>
        <p:spPr>
          <a:xfrm xmlns:a="http://schemas.openxmlformats.org/drawingml/2006/main">
            <a:off x="540000" y="108000"/>
            <a:ext cx="97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  <a:latin typeface="Calibri"/>
                <a:ea typeface="Calibri"/>
              </a:rPr>
              <a:t>Dataset Overview</a:t>
            </a:r>
          </a:p>
        </p:txBody>
      </p:sp>
      <p:sp>
        <p:nvSpPr>
          <p:cNvPr id="100008" name="Stats"/>
          <p:cNvSpPr txBox="1"/>
          <p:nvPr/>
        </p:nvSpPr>
        <p:spPr>
          <a:xfrm xmlns:a="http://schemas.openxmlformats.org/drawingml/2006/main">
            <a:off x="540000" y="1008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E86C1"/>
                </a:solidFill>
                <a:latin typeface="Calibri"/>
                <a:ea typeface="Calibri"/>
              </a:rPr>
              <a:t>249 Records  ·  6 Features  ·  1 Target Variable</a:t>
            </a:r>
          </a:p>
        </p:txBody>
      </p:sp>
      <p:sp>
        <p:nvSpPr>
          <p:cNvPr id="100009" name="Features"/>
          <p:cNvSpPr txBox="1"/>
          <p:nvPr/>
        </p:nvSpPr>
        <p:spPr>
          <a:xfrm xmlns:a="http://schemas.openxmlformats.org/drawingml/2006/main">
            <a:off x="540000" y="1440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1A1A2E"/>
                </a:solidFill>
                <a:latin typeface="Calibri"/>
                <a:ea typeface="Calibri"/>
              </a:rPr>
              <a:t>Input Features:</a:t>
            </a:r>
          </a:p>
          <a:p xmlns:a="http://schemas.openxmlformats.org/drawingml/2006/main">
            <a:r>
              <a:rPr lang="en-US" sz="19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1A1A2E"/>
                </a:solidFill>
                <a:latin typeface="Calibri"/>
                <a:ea typeface="Calibri"/>
              </a:rPr>
              <a:t>  Education       High School, Bachelor, Master, PhD</a:t>
            </a:r>
          </a:p>
          <a:p xmlns:a="http://schemas.openxmlformats.org/drawingml/2006/main">
            <a:r>
              <a:rPr lang="en-US" sz="1900">
                <a:solidFill>
                  <a:srgbClr val="1A1A2E"/>
                </a:solidFill>
                <a:latin typeface="Calibri"/>
                <a:ea typeface="Calibri"/>
              </a:rPr>
              <a:t>  Experience      0 – 29 years</a:t>
            </a:r>
          </a:p>
          <a:p xmlns:a="http://schemas.openxmlformats.org/drawingml/2006/main">
            <a:r>
              <a:rPr lang="en-US" sz="1900">
                <a:solidFill>
                  <a:srgbClr val="1A1A2E"/>
                </a:solidFill>
                <a:latin typeface="Calibri"/>
                <a:ea typeface="Calibri"/>
              </a:rPr>
              <a:t>  Location          Urban, Suburban, Rural</a:t>
            </a:r>
          </a:p>
          <a:p xmlns:a="http://schemas.openxmlformats.org/drawingml/2006/main">
            <a:r>
              <a:rPr lang="en-US" sz="1900">
                <a:solidFill>
                  <a:srgbClr val="1A1A2E"/>
                </a:solidFill>
                <a:latin typeface="Calibri"/>
                <a:ea typeface="Calibri"/>
              </a:rPr>
              <a:t>  Job Title          Analyst, Director, Engineer, Manager</a:t>
            </a:r>
          </a:p>
          <a:p xmlns:a="http://schemas.openxmlformats.org/drawingml/2006/main">
            <a:r>
              <a:rPr lang="en-US" sz="1900">
                <a:solidFill>
                  <a:srgbClr val="1A1A2E"/>
                </a:solidFill>
                <a:latin typeface="Calibri"/>
                <a:ea typeface="Calibri"/>
              </a:rPr>
              <a:t>  Age                  18 – 64 years</a:t>
            </a:r>
          </a:p>
          <a:p xmlns:a="http://schemas.openxmlformats.org/drawingml/2006/main">
            <a:r>
              <a:rPr lang="en-US" sz="1900">
                <a:solidFill>
                  <a:srgbClr val="1A1A2E"/>
                </a:solidFill>
                <a:latin typeface="Calibri"/>
                <a:ea typeface="Calibri"/>
              </a:rPr>
              <a:t>  Gender            Male, Female</a:t>
            </a:r>
          </a:p>
          <a:p xmlns:a="http://schemas.openxmlformats.org/drawingml/2006/main">
            <a:r>
              <a:rPr lang="en-US" sz="19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1A1A2E"/>
                </a:solidFill>
                <a:latin typeface="Calibri"/>
                <a:ea typeface="Calibri"/>
              </a:rPr>
              <a:t>Target Variable:</a:t>
            </a:r>
          </a:p>
          <a:p xmlns:a="http://schemas.openxmlformats.org/drawingml/2006/main">
            <a:r>
              <a:rPr lang="en-US" sz="1900">
                <a:solidFill>
                  <a:srgbClr val="1A1A2E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1A1A2E"/>
                </a:solidFill>
                <a:latin typeface="Calibri"/>
                <a:ea typeface="Calibri"/>
              </a:rPr>
              <a:t>  Salary               $41,707 – $171,403 (Annual USD)</a:t>
            </a:r>
          </a:p>
        </p:txBody>
      </p:sp>
      <p:sp>
        <p:nvSpPr>
          <p:cNvPr id="100010" name="Accent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C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86C1"/>
              </a:solidFill>
            </a:endParaRP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1" name="HeaderBar"/>
          <p:cNvSpPr txBox="1"/>
          <p:nvPr/>
        </p:nvSpPr>
        <p:spPr>
          <a:xfrm xmlns:a="http://schemas.openxmlformats.org/drawingml/2006/main">
            <a:off x="0" y="0"/>
            <a:ext cx="121932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12" name="SlideNum"/>
          <p:cNvSpPr txBox="1"/>
          <p:nvPr/>
        </p:nvSpPr>
        <p:spPr>
          <a:xfrm xmlns:a="http://schemas.openxmlformats.org/drawingml/2006/main">
            <a:off x="10800000" y="144000"/>
            <a:ext cx="9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AED6F1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100013" name="Title"/>
          <p:cNvSpPr txBox="1"/>
          <p:nvPr/>
        </p:nvSpPr>
        <p:spPr>
          <a:xfrm xmlns:a="http://schemas.openxmlformats.org/drawingml/2006/main">
            <a:off x="540000" y="108000"/>
            <a:ext cx="97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  <a:latin typeface="Calibri"/>
                <a:ea typeface="Calibri"/>
              </a:rPr>
              <a:t>System Architecture</a:t>
            </a:r>
          </a:p>
        </p:txBody>
      </p:sp>
      <p:sp>
        <p:nvSpPr>
          <p:cNvPr id="100014" name="Layer1Box"/>
          <p:cNvSpPr txBox="1"/>
          <p:nvPr/>
        </p:nvSpPr>
        <p:spPr>
          <a:xfrm xmlns:a="http://schemas.openxmlformats.org/drawingml/2006/main">
            <a:off x="360000" y="1080000"/>
            <a:ext cx="342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C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STREAMLIT FRONTEND</a:t>
            </a:r>
          </a:p>
          <a:p xmlns:a="http://schemas.openxmlformats.org/drawingml/2006/main"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frontend.py  |  Port 8501</a:t>
            </a:r>
          </a:p>
          <a:p xmlns:a="http://schemas.openxmlformats.org/drawingml/2006/main"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User input form, Plotly charts,</a:t>
            </a:r>
          </a:p>
          <a:p xmlns:a="http://schemas.openxmlformats.org/drawingml/2006/main"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Dataset explorer, Salary result card</a:t>
            </a:r>
          </a:p>
        </p:txBody>
      </p:sp>
      <p:sp>
        <p:nvSpPr>
          <p:cNvPr id="100015" name="Arrow1"/>
          <p:cNvSpPr txBox="1"/>
          <p:nvPr/>
        </p:nvSpPr>
        <p:spPr>
          <a:xfrm xmlns:a="http://schemas.openxmlformats.org/drawingml/2006/main">
            <a:off x="3960000" y="1800000"/>
            <a:ext cx="25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55555"/>
                </a:solidFill>
                <a:latin typeface="Calibri"/>
                <a:ea typeface="Calibri"/>
              </a:rPr>
              <a:t>HTTP POST /api/predict</a:t>
            </a:r>
          </a:p>
          <a:p xmlns:a="http://schemas.openxmlformats.org/drawingml/2006/main">
            <a:r>
              <a:rPr lang="en-US" sz="1400">
                <a:solidFill>
                  <a:srgbClr val="555555"/>
                </a:solidFill>
                <a:latin typeface="Calibri"/>
                <a:ea typeface="Calibri"/>
              </a:rPr>
              <a:t>────────────►</a:t>
            </a:r>
          </a:p>
          <a:p xmlns:a="http://schemas.openxmlformats.org/drawingml/2006/main">
            <a:r>
              <a:rPr lang="en-US" sz="1400">
                <a:solidFill>
                  <a:srgbClr val="555555"/>
                </a:solidFill>
                <a:latin typeface="Calibri"/>
                <a:ea typeface="Calibri"/>
              </a:rPr>
              <a:t>◄────────────</a:t>
            </a:r>
          </a:p>
          <a:p xmlns:a="http://schemas.openxmlformats.org/drawingml/2006/main">
            <a:r>
              <a:rPr lang="en-US" sz="1400">
                <a:solidFill>
                  <a:srgbClr val="555555"/>
                </a:solidFill>
                <a:latin typeface="Calibri"/>
                <a:ea typeface="Calibri"/>
              </a:rPr>
              <a:t>JSON Response</a:t>
            </a:r>
          </a:p>
        </p:txBody>
      </p:sp>
      <p:sp>
        <p:nvSpPr>
          <p:cNvPr id="100016" name="Layer2Box"/>
          <p:cNvSpPr txBox="1"/>
          <p:nvPr/>
        </p:nvSpPr>
        <p:spPr>
          <a:xfrm xmlns:a="http://schemas.openxmlformats.org/drawingml/2006/main">
            <a:off x="6660000" y="1080000"/>
            <a:ext cx="342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FLASK REST API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app.py  |  Port 5000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/api/health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/api/meta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/api/predict</a:t>
            </a:r>
          </a:p>
        </p:txBody>
      </p:sp>
      <p:sp>
        <p:nvSpPr>
          <p:cNvPr id="100017" name="Arrow2"/>
          <p:cNvSpPr txBox="1"/>
          <p:nvPr/>
        </p:nvSpPr>
        <p:spPr>
          <a:xfrm xmlns:a="http://schemas.openxmlformats.org/drawingml/2006/main">
            <a:off x="3960000" y="4140000"/>
            <a:ext cx="25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55555"/>
                </a:solidFill>
                <a:latin typeface="Calibri"/>
                <a:ea typeface="Calibri"/>
              </a:rPr>
              <a:t>pickle.load()</a:t>
            </a:r>
          </a:p>
          <a:p xmlns:a="http://schemas.openxmlformats.org/drawingml/2006/main">
            <a:r>
              <a:rPr lang="en-US" sz="1400">
                <a:solidFill>
                  <a:srgbClr val="555555"/>
                </a:solidFill>
                <a:latin typeface="Calibri"/>
                <a:ea typeface="Calibri"/>
              </a:rPr>
              <a:t>────────────►</a:t>
            </a:r>
          </a:p>
        </p:txBody>
      </p:sp>
      <p:sp>
        <p:nvSpPr>
          <p:cNvPr id="100018" name="Layer3Box"/>
          <p:cNvSpPr txBox="1"/>
          <p:nvPr/>
        </p:nvSpPr>
        <p:spPr>
          <a:xfrm xmlns:a="http://schemas.openxmlformats.org/drawingml/2006/main">
            <a:off x="6660000" y="3960000"/>
            <a:ext cx="34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ML MODEL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models/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model.pkl  |  encoders.pkl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meta.json</a:t>
            </a:r>
          </a:p>
        </p:txBody>
      </p:sp>
      <p:sp>
        <p:nvSpPr>
          <p:cNvPr id="100019" name="DataBox"/>
          <p:cNvSpPr txBox="1"/>
          <p:nvPr/>
        </p:nvSpPr>
        <p:spPr>
          <a:xfrm xmlns:a="http://schemas.openxmlformats.org/drawingml/2006/main">
            <a:off x="360000" y="432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60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salary_data.csv</a:t>
            </a:r>
          </a:p>
          <a:p xmlns:a="http://schemas.openxmlformats.org/drawingml/2006/main"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249 rows · 7 columns</a:t>
            </a:r>
          </a:p>
        </p:txBody>
      </p:sp>
      <p:sp>
        <p:nvSpPr>
          <p:cNvPr id="100020" name="Accent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C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86C1"/>
              </a:solidFill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2026-10-01T14:27:24Z</dcterms:created>
  <cp:lastModifiedBy>OfficeCLI</cp:lastModifiedBy>
  <dcterms:modified xsi:type="dcterms:W3CDTF">2026-10-01T14:27:24Z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1.0.153</vt:lpwstr>
  </op:property>
  <op:property fmtid="{D5CDD505-2E9C-101B-9397-08002B2CF9AE}" pid="3" name="OfficeCLI.LastModified">
    <vt:lpwstr xmlns:vt="http://schemas.openxmlformats.org/officeDocument/2006/docPropsVTypes">2026-10-01T14:28:44Z</vt:lpwstr>
  </op:property>
</op:Properties>
</file>